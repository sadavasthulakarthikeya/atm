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75" r:id="rId2"/>
    <p:sldId id="388" r:id="rId3"/>
    <p:sldId id="390" r:id="rId4"/>
    <p:sldId id="393" r:id="rId5"/>
    <p:sldId id="402" r:id="rId6"/>
    <p:sldId id="407" r:id="rId7"/>
    <p:sldId id="408" r:id="rId8"/>
    <p:sldId id="409" r:id="rId9"/>
    <p:sldId id="400" r:id="rId10"/>
    <p:sldId id="411" r:id="rId11"/>
    <p:sldId id="412" r:id="rId12"/>
    <p:sldId id="410" r:id="rId13"/>
    <p:sldId id="39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44562-8DA2-48FF-8F43-91DDDDC1DEB3}" v="1" dt="2025-10-29T05:20:40.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showGuides="1">
      <p:cViewPr varScale="1">
        <p:scale>
          <a:sx n="78" d="100"/>
          <a:sy n="78" d="100"/>
        </p:scale>
        <p:origin x="97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 Kishore" userId="3977806327964aab" providerId="LiveId" clId="{89980D0F-7F9B-4698-86AA-29A94152E206}"/>
    <pc:docChg chg="custSel addSld delSld modSld">
      <pc:chgData name="R Kishore" userId="3977806327964aab" providerId="LiveId" clId="{89980D0F-7F9B-4698-86AA-29A94152E206}" dt="2025-10-29T05:21:56.752" v="58" actId="27636"/>
      <pc:docMkLst>
        <pc:docMk/>
      </pc:docMkLst>
      <pc:sldChg chg="modSp mod">
        <pc:chgData name="R Kishore" userId="3977806327964aab" providerId="LiveId" clId="{89980D0F-7F9B-4698-86AA-29A94152E206}" dt="2025-10-29T05:21:56.752" v="58" actId="27636"/>
        <pc:sldMkLst>
          <pc:docMk/>
          <pc:sldMk cId="0" sldId="388"/>
        </pc:sldMkLst>
        <pc:spChg chg="mod">
          <ac:chgData name="R Kishore" userId="3977806327964aab" providerId="LiveId" clId="{89980D0F-7F9B-4698-86AA-29A94152E206}" dt="2025-10-29T05:21:56.752" v="58" actId="27636"/>
          <ac:spMkLst>
            <pc:docMk/>
            <pc:sldMk cId="0" sldId="388"/>
            <ac:spMk id="3" creationId="{00000000-0000-0000-0000-000000000000}"/>
          </ac:spMkLst>
        </pc:spChg>
      </pc:sldChg>
      <pc:sldChg chg="modSp mod">
        <pc:chgData name="R Kishore" userId="3977806327964aab" providerId="LiveId" clId="{89980D0F-7F9B-4698-86AA-29A94152E206}" dt="2025-10-29T05:21:13.525" v="56" actId="20577"/>
        <pc:sldMkLst>
          <pc:docMk/>
          <pc:sldMk cId="991853584" sldId="407"/>
        </pc:sldMkLst>
        <pc:spChg chg="mod">
          <ac:chgData name="R Kishore" userId="3977806327964aab" providerId="LiveId" clId="{89980D0F-7F9B-4698-86AA-29A94152E206}" dt="2025-10-29T05:21:13.525" v="56" actId="20577"/>
          <ac:spMkLst>
            <pc:docMk/>
            <pc:sldMk cId="991853584" sldId="407"/>
            <ac:spMk id="4" creationId="{79A570CE-4079-5AAE-6AD2-9A61A6630605}"/>
          </ac:spMkLst>
        </pc:spChg>
      </pc:sldChg>
      <pc:sldChg chg="modSp setBg">
        <pc:chgData name="R Kishore" userId="3977806327964aab" providerId="LiveId" clId="{89980D0F-7F9B-4698-86AA-29A94152E206}" dt="2025-10-29T05:20:40.604" v="55"/>
        <pc:sldMkLst>
          <pc:docMk/>
          <pc:sldMk cId="177134654" sldId="411"/>
        </pc:sldMkLst>
        <pc:spChg chg="mod">
          <ac:chgData name="R Kishore" userId="3977806327964aab" providerId="LiveId" clId="{89980D0F-7F9B-4698-86AA-29A94152E206}" dt="2025-10-29T05:20:40.604" v="55"/>
          <ac:spMkLst>
            <pc:docMk/>
            <pc:sldMk cId="177134654" sldId="411"/>
            <ac:spMk id="5" creationId="{950DA99A-B5CA-402D-A52E-DB5CED29BB92}"/>
          </ac:spMkLst>
        </pc:spChg>
        <pc:spChg chg="mod">
          <ac:chgData name="R Kishore" userId="3977806327964aab" providerId="LiveId" clId="{89980D0F-7F9B-4698-86AA-29A94152E206}" dt="2025-10-29T05:20:40.604" v="55"/>
          <ac:spMkLst>
            <pc:docMk/>
            <pc:sldMk cId="177134654" sldId="411"/>
            <ac:spMk id="6" creationId="{C5E2F541-7C09-52B9-FBED-5D6E34379E06}"/>
          </ac:spMkLst>
        </pc:spChg>
      </pc:sldChg>
      <pc:sldChg chg="new del">
        <pc:chgData name="R Kishore" userId="3977806327964aab" providerId="LiveId" clId="{89980D0F-7F9B-4698-86AA-29A94152E206}" dt="2025-10-29T05:15:23.415" v="5" actId="2696"/>
        <pc:sldMkLst>
          <pc:docMk/>
          <pc:sldMk cId="1132804835" sldId="412"/>
        </pc:sldMkLst>
      </pc:sldChg>
      <pc:sldChg chg="addSp delSp modSp new mod">
        <pc:chgData name="R Kishore" userId="3977806327964aab" providerId="LiveId" clId="{89980D0F-7F9B-4698-86AA-29A94152E206}" dt="2025-10-29T05:18:19.032" v="54" actId="20577"/>
        <pc:sldMkLst>
          <pc:docMk/>
          <pc:sldMk cId="1721453332" sldId="412"/>
        </pc:sldMkLst>
        <pc:spChg chg="mod">
          <ac:chgData name="R Kishore" userId="3977806327964aab" providerId="LiveId" clId="{89980D0F-7F9B-4698-86AA-29A94152E206}" dt="2025-10-29T05:17:57.592" v="51" actId="255"/>
          <ac:spMkLst>
            <pc:docMk/>
            <pc:sldMk cId="1721453332" sldId="412"/>
            <ac:spMk id="2" creationId="{7356131C-FF4C-D096-C4D6-75036B7BDB95}"/>
          </ac:spMkLst>
        </pc:spChg>
        <pc:spChg chg="del">
          <ac:chgData name="R Kishore" userId="3977806327964aab" providerId="LiveId" clId="{89980D0F-7F9B-4698-86AA-29A94152E206}" dt="2025-10-29T05:16:47.926" v="7" actId="22"/>
          <ac:spMkLst>
            <pc:docMk/>
            <pc:sldMk cId="1721453332" sldId="412"/>
            <ac:spMk id="3" creationId="{6BCA655E-E712-6F49-554D-D5FBD5746EAD}"/>
          </ac:spMkLst>
        </pc:spChg>
        <pc:spChg chg="mod">
          <ac:chgData name="R Kishore" userId="3977806327964aab" providerId="LiveId" clId="{89980D0F-7F9B-4698-86AA-29A94152E206}" dt="2025-10-29T05:18:03.683" v="52" actId="20577"/>
          <ac:spMkLst>
            <pc:docMk/>
            <pc:sldMk cId="1721453332" sldId="412"/>
            <ac:spMk id="4" creationId="{D74B08A4-12FD-2D4B-A1CF-469C42C6121E}"/>
          </ac:spMkLst>
        </pc:spChg>
        <pc:spChg chg="mod">
          <ac:chgData name="R Kishore" userId="3977806327964aab" providerId="LiveId" clId="{89980D0F-7F9B-4698-86AA-29A94152E206}" dt="2025-10-29T05:18:07.833" v="53" actId="20577"/>
          <ac:spMkLst>
            <pc:docMk/>
            <pc:sldMk cId="1721453332" sldId="412"/>
            <ac:spMk id="5" creationId="{33E7B3BF-3B25-E5DA-D151-590139A6C7E7}"/>
          </ac:spMkLst>
        </pc:spChg>
        <pc:spChg chg="mod">
          <ac:chgData name="R Kishore" userId="3977806327964aab" providerId="LiveId" clId="{89980D0F-7F9B-4698-86AA-29A94152E206}" dt="2025-10-29T05:18:19.032" v="54" actId="20577"/>
          <ac:spMkLst>
            <pc:docMk/>
            <pc:sldMk cId="1721453332" sldId="412"/>
            <ac:spMk id="6" creationId="{AAD129DD-A46B-3E76-877D-938866E2643D}"/>
          </ac:spMkLst>
        </pc:spChg>
        <pc:picChg chg="add mod ord">
          <ac:chgData name="R Kishore" userId="3977806327964aab" providerId="LiveId" clId="{89980D0F-7F9B-4698-86AA-29A94152E206}" dt="2025-10-29T05:16:47.926" v="7" actId="22"/>
          <ac:picMkLst>
            <pc:docMk/>
            <pc:sldMk cId="1721453332" sldId="412"/>
            <ac:picMk id="8" creationId="{552E1CFA-C5DC-5380-A5AA-407FDFEF7DF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t>10/29/2025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t>10/29/2025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3</a:t>
            </a:fld>
            <a:endParaRPr lang="en-US"/>
          </a:p>
        </p:txBody>
      </p:sp>
    </p:spTree>
    <p:extLst>
      <p:ext uri="{BB962C8B-B14F-4D97-AF65-F5344CB8AC3E}">
        <p14:creationId xmlns:p14="http://schemas.microsoft.com/office/powerpoint/2010/main" val="4261094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00426-B383-DB34-FE9B-3295D75D3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1CFE3-76F0-D37D-BC73-43B836870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050343-5A3C-4A3D-C557-9F227442B0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FD814A1-9B2F-B21F-9DCA-392531AA8134}"/>
              </a:ext>
            </a:extLst>
          </p:cNvPr>
          <p:cNvSpPr>
            <a:spLocks noGrp="1"/>
          </p:cNvSpPr>
          <p:nvPr>
            <p:ph type="sldNum" sz="quarter" idx="5"/>
          </p:nvPr>
        </p:nvSpPr>
        <p:spPr/>
        <p:txBody>
          <a:bodyPr/>
          <a:lstStyle/>
          <a:p>
            <a:fld id="{FD238FA3-189B-4AA8-9E46-1FED810FB611}" type="slidenum">
              <a:rPr lang="en-US" smtClean="0"/>
              <a:t>6</a:t>
            </a:fld>
            <a:endParaRPr lang="en-US"/>
          </a:p>
        </p:txBody>
      </p:sp>
    </p:spTree>
    <p:extLst>
      <p:ext uri="{BB962C8B-B14F-4D97-AF65-F5344CB8AC3E}">
        <p14:creationId xmlns:p14="http://schemas.microsoft.com/office/powerpoint/2010/main" val="2525414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BD971-D722-0370-1877-256B64B48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2A924-C719-4FF5-894A-667532982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F4E784-0E68-654D-19E6-F107AFDAA2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3A18D8-AA71-06B1-9001-803B9565F204}"/>
              </a:ext>
            </a:extLst>
          </p:cNvPr>
          <p:cNvSpPr>
            <a:spLocks noGrp="1"/>
          </p:cNvSpPr>
          <p:nvPr>
            <p:ph type="sldNum" sz="quarter" idx="5"/>
          </p:nvPr>
        </p:nvSpPr>
        <p:spPr/>
        <p:txBody>
          <a:bodyPr/>
          <a:lstStyle/>
          <a:p>
            <a:fld id="{FD238FA3-189B-4AA8-9E46-1FED810FB611}" type="slidenum">
              <a:rPr lang="en-US" smtClean="0"/>
              <a:t>7</a:t>
            </a:fld>
            <a:endParaRPr lang="en-US"/>
          </a:p>
        </p:txBody>
      </p:sp>
    </p:spTree>
    <p:extLst>
      <p:ext uri="{BB962C8B-B14F-4D97-AF65-F5344CB8AC3E}">
        <p14:creationId xmlns:p14="http://schemas.microsoft.com/office/powerpoint/2010/main" val="191340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13693-4EA8-22ED-7146-4ECC921A7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A3744-50FB-9692-8B6E-1633A2EAAF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DE342-56F3-0ADA-9C22-76D9F3E7A0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1B789D-A39E-799E-3810-1EF263CA7CDD}"/>
              </a:ext>
            </a:extLst>
          </p:cNvPr>
          <p:cNvSpPr>
            <a:spLocks noGrp="1"/>
          </p:cNvSpPr>
          <p:nvPr>
            <p:ph type="sldNum" sz="quarter" idx="5"/>
          </p:nvPr>
        </p:nvSpPr>
        <p:spPr/>
        <p:txBody>
          <a:bodyPr/>
          <a:lstStyle/>
          <a:p>
            <a:fld id="{FD238FA3-189B-4AA8-9E46-1FED810FB611}" type="slidenum">
              <a:rPr lang="en-US" smtClean="0"/>
              <a:t>8</a:t>
            </a:fld>
            <a:endParaRPr lang="en-US"/>
          </a:p>
        </p:txBody>
      </p:sp>
    </p:spTree>
    <p:extLst>
      <p:ext uri="{BB962C8B-B14F-4D97-AF65-F5344CB8AC3E}">
        <p14:creationId xmlns:p14="http://schemas.microsoft.com/office/powerpoint/2010/main" val="844619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29 October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29 October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29 October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29 October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29 October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914400" y="467868"/>
            <a:ext cx="7772400" cy="3505199"/>
          </a:xfrm>
        </p:spPr>
        <p:txBody>
          <a:bodyPr>
            <a:normAutofit/>
          </a:bodyPr>
          <a:lstStyle/>
          <a:p>
            <a:br>
              <a:rPr lang="en-IN" sz="2000" dirty="0">
                <a:solidFill>
                  <a:schemeClr val="accent1">
                    <a:lumMod val="50000"/>
                  </a:schemeClr>
                </a:solidFill>
                <a:latin typeface="Arial" panose="020B0604020202020204" pitchFamily="34" charset="0"/>
                <a:cs typeface="Arial" panose="020B0604020202020204" pitchFamily="34" charset="0"/>
              </a:rPr>
            </a:br>
            <a:br>
              <a:rPr lang="en-IN" sz="2400" dirty="0">
                <a:solidFill>
                  <a:schemeClr val="accent1">
                    <a:lumMod val="50000"/>
                  </a:schemeClr>
                </a:solidFill>
                <a:latin typeface="Arial" panose="020B0604020202020204" pitchFamily="34" charset="0"/>
                <a:cs typeface="Arial" panose="020B0604020202020204" pitchFamily="34" charset="0"/>
              </a:rPr>
            </a:br>
            <a:endParaRPr lang="en-US" sz="2400" dirty="0">
              <a:solidFill>
                <a:schemeClr val="accent1">
                  <a:lumMod val="50000"/>
                </a:schemeClr>
              </a:solidFill>
              <a:latin typeface="Arial" panose="020B0604020202020204" pitchFamily="34" charset="0"/>
              <a:cs typeface="Arial" panose="020B0604020202020204" pitchFamily="34" charset="0"/>
            </a:endParaRPr>
          </a:p>
        </p:txBody>
      </p:sp>
      <p:sp>
        <p:nvSpPr>
          <p:cNvPr id="17" name="Subtitle 2"/>
          <p:cNvSpPr>
            <a:spLocks noGrp="1"/>
          </p:cNvSpPr>
          <p:nvPr>
            <p:ph type="subTitle" idx="1"/>
          </p:nvPr>
        </p:nvSpPr>
        <p:spPr>
          <a:xfrm>
            <a:off x="1291857" y="3229391"/>
            <a:ext cx="6709143" cy="885409"/>
          </a:xfrm>
        </p:spPr>
        <p:txBody>
          <a:bodyPr>
            <a:normAutofit/>
          </a:bodyPr>
          <a:lstStyle/>
          <a:p>
            <a:r>
              <a:rPr lang="en-IN" sz="3600" b="1" dirty="0">
                <a:solidFill>
                  <a:schemeClr val="tx1"/>
                </a:solidFill>
                <a:latin typeface="Arial" panose="020B0604020202020204" pitchFamily="34" charset="0"/>
                <a:cs typeface="Arial" panose="020B0604020202020204" pitchFamily="34" charset="0"/>
              </a:rPr>
              <a:t>SIMPLE  ATM  INTERFACE</a:t>
            </a:r>
            <a:endParaRPr lang="en-US" sz="3600" b="1" dirty="0">
              <a:solidFill>
                <a:schemeClr val="tx1"/>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p:spPr>
        <p:txBody>
          <a:bodyPr/>
          <a:lstStyle/>
          <a:p>
            <a:endParaRPr lang="en-US" dirty="0"/>
          </a:p>
        </p:txBody>
      </p:sp>
      <p:sp>
        <p:nvSpPr>
          <p:cNvPr id="14" name="TextBox 13"/>
          <p:cNvSpPr txBox="1"/>
          <p:nvPr/>
        </p:nvSpPr>
        <p:spPr>
          <a:xfrm>
            <a:off x="342898" y="2024316"/>
            <a:ext cx="8610599" cy="677108"/>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endParaRPr lang="en-US" b="1" dirty="0"/>
          </a:p>
        </p:txBody>
      </p:sp>
      <p:sp>
        <p:nvSpPr>
          <p:cNvPr id="29" name="Subtitle 2"/>
          <p:cNvSpPr txBox="1"/>
          <p:nvPr/>
        </p:nvSpPr>
        <p:spPr>
          <a:xfrm>
            <a:off x="6019800" y="4418074"/>
            <a:ext cx="1981199" cy="832677"/>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000" b="1" dirty="0">
                <a:solidFill>
                  <a:schemeClr val="tx1"/>
                </a:solidFill>
              </a:rPr>
              <a:t>                       </a:t>
            </a:r>
          </a:p>
        </p:txBody>
      </p:sp>
      <p:sp>
        <p:nvSpPr>
          <p:cNvPr id="2" name="Subtitle 2">
            <a:extLst>
              <a:ext uri="{FF2B5EF4-FFF2-40B4-BE49-F238E27FC236}">
                <a16:creationId xmlns:a16="http://schemas.microsoft.com/office/drawing/2014/main" id="{738AA056-25A3-AA3A-6E7E-EF937AC0EB58}"/>
              </a:ext>
            </a:extLst>
          </p:cNvPr>
          <p:cNvSpPr txBox="1"/>
          <p:nvPr/>
        </p:nvSpPr>
        <p:spPr>
          <a:xfrm>
            <a:off x="-304800" y="4275684"/>
            <a:ext cx="2857500" cy="737716"/>
          </a:xfrm>
          <a:prstGeom prst="rect">
            <a:avLst/>
          </a:prstGeom>
        </p:spPr>
        <p:txBody>
          <a:bodyPr vert="horz" lIns="91440" tIns="45720" rIns="91440" bIns="45720" rtlCol="0">
            <a:normAutofit fontScale="62500" lnSpcReduction="2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8000" b="1" dirty="0">
                <a:solidFill>
                  <a:schemeClr val="tx1"/>
                </a:solidFill>
              </a:rPr>
              <a:t>  	</a:t>
            </a:r>
            <a:endParaRPr lang="en-GB" sz="1900" b="1" dirty="0">
              <a:solidFill>
                <a:schemeClr val="tx1"/>
              </a:solidFill>
            </a:endParaRPr>
          </a:p>
        </p:txBody>
      </p:sp>
      <p:sp>
        <p:nvSpPr>
          <p:cNvPr id="7" name="Subtitle 2">
            <a:extLst>
              <a:ext uri="{FF2B5EF4-FFF2-40B4-BE49-F238E27FC236}">
                <a16:creationId xmlns:a16="http://schemas.microsoft.com/office/drawing/2014/main" id="{80F3C18A-5E34-2C90-EC96-75B9A8BAABF3}"/>
              </a:ext>
            </a:extLst>
          </p:cNvPr>
          <p:cNvSpPr txBox="1"/>
          <p:nvPr/>
        </p:nvSpPr>
        <p:spPr>
          <a:xfrm>
            <a:off x="5562600" y="4343400"/>
            <a:ext cx="3200400" cy="103458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1600" dirty="0">
                <a:solidFill>
                  <a:schemeClr val="tx1"/>
                </a:solidFill>
              </a:rPr>
              <a:t>     </a:t>
            </a:r>
            <a:endParaRPr lang="en-GB" sz="16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normAutofit/>
          </a:bodyPr>
          <a:lstStyle/>
          <a:p>
            <a:r>
              <a:rPr lang="en-US" sz="3600" b="1" dirty="0"/>
              <a:t>ABSTRACT</a:t>
            </a:r>
          </a:p>
        </p:txBody>
      </p:sp>
      <p:sp>
        <p:nvSpPr>
          <p:cNvPr id="3" name="Content Placeholder 2"/>
          <p:cNvSpPr>
            <a:spLocks noGrp="1"/>
          </p:cNvSpPr>
          <p:nvPr>
            <p:ph idx="1"/>
          </p:nvPr>
        </p:nvSpPr>
        <p:spPr>
          <a:xfrm>
            <a:off x="381000" y="1409700"/>
            <a:ext cx="8534400" cy="4946650"/>
          </a:xfrm>
        </p:spPr>
        <p:txBody>
          <a:bodyPr>
            <a:normAutofit fontScale="92500"/>
          </a:bodyPr>
          <a:lstStyle/>
          <a:p>
            <a:pPr marL="0" indent="0">
              <a:buNone/>
            </a:pPr>
            <a:endParaRPr lang="en-US" dirty="0"/>
          </a:p>
          <a:p>
            <a:pPr marL="0" indent="0" algn="just">
              <a:buNone/>
            </a:pPr>
            <a:r>
              <a:rPr lang="en-US" sz="2200" dirty="0">
                <a:latin typeface="Times New Roman" panose="02020603050405020304" pitchFamily="18" charset="0"/>
                <a:cs typeface="Times New Roman" panose="02020603050405020304" pitchFamily="18" charset="0"/>
              </a:rPr>
              <a:t>The Simple ATM Interface project is a comprehensive simulation of an Automated Teller Machine, designed to introduce students and developers to the architectural and functional aspects of real-world banking systems. The application combines a visually intuitive front end built with HTML, CSS, and JavaScript and a robust backend powered by Java, with persistent account management and transaction data handled through MySQL. By implementing critical banking operations—such as account login, balance inquiry, deposit, withdrawal, and transaction history—the system bridges the gap between theory and hands-on learning. It integrates database connectivity, form validation, and error handling, demonstrating the core principles of full-stack application development and secure transaction processing. The Simple ATM Interface highlights how data flows across different technology layers, providing learners with foundational experience in designing and securing modern financial applications</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t>EXISTING SYSTEM</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587613" y="6356349"/>
            <a:ext cx="2133600" cy="365125"/>
          </a:xfrm>
        </p:spPr>
        <p:txBody>
          <a:bodyPr/>
          <a:lstStyle/>
          <a:p>
            <a:endParaRPr lang="en-US" dirty="0"/>
          </a:p>
        </p:txBody>
      </p:sp>
      <p:sp>
        <p:nvSpPr>
          <p:cNvPr id="4" name="Content Placeholder 3"/>
          <p:cNvSpPr>
            <a:spLocks noGrp="1"/>
          </p:cNvSpPr>
          <p:nvPr>
            <p:ph idx="1"/>
          </p:nvPr>
        </p:nvSpPr>
        <p:spPr>
          <a:xfrm>
            <a:off x="457200" y="1447800"/>
            <a:ext cx="8229600" cy="4525963"/>
          </a:xfrm>
        </p:spPr>
        <p:txBody>
          <a:bodyPr>
            <a:normAutofit/>
          </a:bodyPr>
          <a:lstStyle/>
          <a:p>
            <a:pPr algn="just"/>
            <a:r>
              <a:rPr lang="en-US" sz="2000" dirty="0">
                <a:latin typeface="Times New Roman" panose="02020603050405020304" pitchFamily="18" charset="0"/>
                <a:cs typeface="Times New Roman" panose="02020603050405020304" pitchFamily="18" charset="0"/>
              </a:rPr>
              <a:t>In the current landscape, ATMs act as essential platforms enabling users to perform self-service banking operations. However, these systems are largely inaccessible for educational exploration since banks restrict access for reasons of security and privacy. Most students and novice developers only encounter ATM functionalities through theoretical coursework and documentation. Direct exposure to the operational and architectural complexity of authentic ATMs is minimal because proprietary banking software and hardware are not shared outside institutional boundaries. This lack of transparency makes it extremely difficult to visualize and experiment with critical processes such as multi-tier authentication, transaction validation, or database synchronization, leaving a significant gap in practical understanding</a:t>
            </a:r>
          </a:p>
        </p:txBody>
      </p:sp>
      <p:sp>
        <p:nvSpPr>
          <p:cNvPr id="8" name="Date Placeholder 2">
            <a:extLst>
              <a:ext uri="{FF2B5EF4-FFF2-40B4-BE49-F238E27FC236}">
                <a16:creationId xmlns:a16="http://schemas.microsoft.com/office/drawing/2014/main" id="{B24B9FFE-34C2-E71C-E26C-0BEDDD0C274A}"/>
              </a:ext>
            </a:extLst>
          </p:cNvPr>
          <p:cNvSpPr>
            <a:spLocks noGrp="1"/>
          </p:cNvSpPr>
          <p:nvPr>
            <p:ph type="dt" sz="half" idx="10"/>
          </p:nvPr>
        </p:nvSpPr>
        <p:spPr>
          <a:xfrm>
            <a:off x="457200" y="6264275"/>
            <a:ext cx="2133600" cy="365125"/>
          </a:xfrm>
        </p:spPr>
        <p:txBody>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10E2D-F289-C922-F500-A90C513B4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24449-7DA9-E853-55FF-11603BEB1F27}"/>
              </a:ext>
            </a:extLst>
          </p:cNvPr>
          <p:cNvSpPr>
            <a:spLocks noGrp="1"/>
          </p:cNvSpPr>
          <p:nvPr>
            <p:ph type="title"/>
          </p:nvPr>
        </p:nvSpPr>
        <p:spPr>
          <a:xfrm>
            <a:off x="457200" y="228600"/>
            <a:ext cx="8229600" cy="1143000"/>
          </a:xfrm>
        </p:spPr>
        <p:txBody>
          <a:bodyPr>
            <a:normAutofit/>
          </a:bodyPr>
          <a:lstStyle/>
          <a:p>
            <a:r>
              <a:rPr lang="en-US" sz="3600" b="1" dirty="0"/>
              <a:t>PROPOSED SYSTEM</a:t>
            </a:r>
          </a:p>
        </p:txBody>
      </p:sp>
      <p:sp>
        <p:nvSpPr>
          <p:cNvPr id="5" name="Footer Placeholder 4">
            <a:extLst>
              <a:ext uri="{FF2B5EF4-FFF2-40B4-BE49-F238E27FC236}">
                <a16:creationId xmlns:a16="http://schemas.microsoft.com/office/drawing/2014/main" id="{93148369-CA73-7D3B-4E65-C421DC570BBB}"/>
              </a:ext>
            </a:extLst>
          </p:cNvPr>
          <p:cNvSpPr>
            <a:spLocks noGrp="1"/>
          </p:cNvSpPr>
          <p:nvPr>
            <p:ph type="ftr" sz="quarter" idx="11"/>
          </p:nvPr>
        </p:nvSpPr>
        <p:spPr/>
        <p:txBody>
          <a:bodyPr/>
          <a:lstStyle/>
          <a:p>
            <a:r>
              <a:rPr lang="en-US" dirty="0"/>
              <a:t>School of Computing - CSE</a:t>
            </a:r>
          </a:p>
          <a:p>
            <a:endParaRPr lang="en-US" dirty="0"/>
          </a:p>
        </p:txBody>
      </p:sp>
      <p:sp>
        <p:nvSpPr>
          <p:cNvPr id="6" name="Slide Number Placeholder 5">
            <a:extLst>
              <a:ext uri="{FF2B5EF4-FFF2-40B4-BE49-F238E27FC236}">
                <a16:creationId xmlns:a16="http://schemas.microsoft.com/office/drawing/2014/main" id="{F6B46BB4-1FA6-BE11-05CF-CCA2649EE6D5}"/>
              </a:ext>
            </a:extLst>
          </p:cNvPr>
          <p:cNvSpPr>
            <a:spLocks noGrp="1"/>
          </p:cNvSpPr>
          <p:nvPr>
            <p:ph type="sldNum" sz="quarter" idx="12"/>
          </p:nvPr>
        </p:nvSpPr>
        <p:spPr>
          <a:xfrm>
            <a:off x="6553200" y="6356350"/>
            <a:ext cx="2133600" cy="365125"/>
          </a:xfrm>
        </p:spPr>
        <p:txBody>
          <a:bodyPr/>
          <a:lstStyle/>
          <a:p>
            <a:endParaRPr lang="en-US" dirty="0"/>
          </a:p>
        </p:txBody>
      </p:sp>
      <p:sp>
        <p:nvSpPr>
          <p:cNvPr id="4" name="Content Placeholder 3">
            <a:extLst>
              <a:ext uri="{FF2B5EF4-FFF2-40B4-BE49-F238E27FC236}">
                <a16:creationId xmlns:a16="http://schemas.microsoft.com/office/drawing/2014/main" id="{D19A75B5-FBC0-43ED-04D0-80D74ABA01B7}"/>
              </a:ext>
            </a:extLst>
          </p:cNvPr>
          <p:cNvSpPr>
            <a:spLocks noGrp="1"/>
          </p:cNvSpPr>
          <p:nvPr>
            <p:ph idx="1"/>
          </p:nvPr>
        </p:nvSpPr>
        <p:spPr>
          <a:xfrm>
            <a:off x="457200" y="1447800"/>
            <a:ext cx="8229600" cy="4525963"/>
          </a:xfrm>
        </p:spPr>
        <p:txBody>
          <a:bodyPr>
            <a:normAutofit/>
          </a:bodyPr>
          <a:lstStyle/>
          <a:p>
            <a:pPr marL="0" indent="0" algn="just">
              <a:lnSpc>
                <a:spcPct val="120000"/>
              </a:lnSpc>
              <a:buNone/>
            </a:pPr>
            <a:r>
              <a:rPr lang="en-US" sz="2000" dirty="0">
                <a:latin typeface="Times New Roman" panose="02020603050405020304" pitchFamily="18" charset="0"/>
                <a:cs typeface="Times New Roman" panose="02020603050405020304" pitchFamily="18" charset="0"/>
              </a:rPr>
              <a:t>The Simple ATM Interface addresses these educational challenges by providing an open-source, web-based simulation of ATM operations. This proposed system offers a full-stack software environment where users can securely log in, check balances, deposit or withdraw funds, and review their transaction history. The modular frontend is user-friendly, with clear navigation and immediate feedback for each operation. A Java-based backend ensures secure execution of logic and connects to a MySQL database for reliable data storage. Each transaction updates the database in real time, ensuring consistency across all system layers. By simulating real-life ATM flows, the system gives learners the opportunity to experiment in a risk-free setting, deepen their understanding of database-driven web applications, and appreciate the importance of security practices in financial software</a:t>
            </a: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p>
        </p:txBody>
      </p:sp>
      <p:sp>
        <p:nvSpPr>
          <p:cNvPr id="8" name="Date Placeholder 2">
            <a:extLst>
              <a:ext uri="{FF2B5EF4-FFF2-40B4-BE49-F238E27FC236}">
                <a16:creationId xmlns:a16="http://schemas.microsoft.com/office/drawing/2014/main" id="{4D63EA84-F94A-1690-F7F5-C08F6A827D72}"/>
              </a:ext>
            </a:extLst>
          </p:cNvPr>
          <p:cNvSpPr>
            <a:spLocks noGrp="1"/>
          </p:cNvSpPr>
          <p:nvPr>
            <p:ph type="dt" sz="half" idx="10"/>
          </p:nvPr>
        </p:nvSpPr>
        <p:spPr>
          <a:xfrm>
            <a:off x="457200" y="6264275"/>
            <a:ext cx="2133600" cy="365125"/>
          </a:xfrm>
        </p:spPr>
        <p:txBody>
          <a:bodyPr/>
          <a:lstStyle/>
          <a:p>
            <a:endParaRPr lang="en-US" dirty="0"/>
          </a:p>
        </p:txBody>
      </p:sp>
    </p:spTree>
    <p:extLst>
      <p:ext uri="{BB962C8B-B14F-4D97-AF65-F5344CB8AC3E}">
        <p14:creationId xmlns:p14="http://schemas.microsoft.com/office/powerpoint/2010/main" val="3216360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2FC23-8237-4380-5E84-031C4A9B3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635AE-598E-D982-A6BE-B035AB6A09AB}"/>
              </a:ext>
            </a:extLst>
          </p:cNvPr>
          <p:cNvSpPr>
            <a:spLocks noGrp="1"/>
          </p:cNvSpPr>
          <p:nvPr>
            <p:ph type="title"/>
          </p:nvPr>
        </p:nvSpPr>
        <p:spPr>
          <a:xfrm>
            <a:off x="533400" y="228600"/>
            <a:ext cx="8229600" cy="1143000"/>
          </a:xfrm>
        </p:spPr>
        <p:txBody>
          <a:bodyPr>
            <a:normAutofit/>
          </a:bodyPr>
          <a:lstStyle/>
          <a:p>
            <a:r>
              <a:rPr lang="en-US" sz="3600" b="1" dirty="0"/>
              <a:t>ADVANTAGES</a:t>
            </a:r>
          </a:p>
        </p:txBody>
      </p:sp>
      <p:sp>
        <p:nvSpPr>
          <p:cNvPr id="5" name="Footer Placeholder 4">
            <a:extLst>
              <a:ext uri="{FF2B5EF4-FFF2-40B4-BE49-F238E27FC236}">
                <a16:creationId xmlns:a16="http://schemas.microsoft.com/office/drawing/2014/main" id="{7DB67291-40A5-60C8-F728-9D43E055300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04FE1FF-9360-3EAB-E713-58DECDA9E69E}"/>
              </a:ext>
            </a:extLst>
          </p:cNvPr>
          <p:cNvSpPr>
            <a:spLocks noGrp="1"/>
          </p:cNvSpPr>
          <p:nvPr>
            <p:ph type="sldNum" sz="quarter" idx="12"/>
          </p:nvPr>
        </p:nvSpPr>
        <p:spPr/>
        <p:txBody>
          <a:bodyPr/>
          <a:lstStyle/>
          <a:p>
            <a:endParaRPr lang="en-US" dirty="0"/>
          </a:p>
        </p:txBody>
      </p:sp>
      <p:sp>
        <p:nvSpPr>
          <p:cNvPr id="8" name="Date Placeholder 2">
            <a:extLst>
              <a:ext uri="{FF2B5EF4-FFF2-40B4-BE49-F238E27FC236}">
                <a16:creationId xmlns:a16="http://schemas.microsoft.com/office/drawing/2014/main" id="{2B33FE5C-D4B6-0262-1325-0D929D2E6EE7}"/>
              </a:ext>
            </a:extLst>
          </p:cNvPr>
          <p:cNvSpPr>
            <a:spLocks noGrp="1"/>
          </p:cNvSpPr>
          <p:nvPr>
            <p:ph type="dt" sz="half" idx="10"/>
          </p:nvPr>
        </p:nvSpPr>
        <p:spPr>
          <a:xfrm>
            <a:off x="457200" y="6264275"/>
            <a:ext cx="2133600" cy="365125"/>
          </a:xfrm>
        </p:spPr>
        <p:txBody>
          <a:bodyPr/>
          <a:lstStyle/>
          <a:p>
            <a:endParaRPr lang="en-US" dirty="0"/>
          </a:p>
        </p:txBody>
      </p:sp>
      <p:sp>
        <p:nvSpPr>
          <p:cNvPr id="16" name="AutoShape 6" descr="Image of ">
            <a:extLst>
              <a:ext uri="{FF2B5EF4-FFF2-40B4-BE49-F238E27FC236}">
                <a16:creationId xmlns:a16="http://schemas.microsoft.com/office/drawing/2014/main" id="{9F9FDCCD-022D-80C5-8EBB-2D432374474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8" descr="Image of ">
            <a:extLst>
              <a:ext uri="{FF2B5EF4-FFF2-40B4-BE49-F238E27FC236}">
                <a16:creationId xmlns:a16="http://schemas.microsoft.com/office/drawing/2014/main" id="{0F770428-5736-D254-59C5-FD045937CAF8}"/>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a:extLst>
              <a:ext uri="{FF2B5EF4-FFF2-40B4-BE49-F238E27FC236}">
                <a16:creationId xmlns:a16="http://schemas.microsoft.com/office/drawing/2014/main" id="{8931DC03-57C3-6DD1-0D7D-7F68AC7CFB8A}"/>
              </a:ext>
            </a:extLst>
          </p:cNvPr>
          <p:cNvSpPr txBox="1"/>
          <p:nvPr/>
        </p:nvSpPr>
        <p:spPr>
          <a:xfrm>
            <a:off x="304800" y="1281112"/>
            <a:ext cx="8534400" cy="5016758"/>
          </a:xfrm>
          <a:prstGeom prst="rect">
            <a:avLst/>
          </a:prstGeom>
          <a:noFill/>
        </p:spPr>
        <p:txBody>
          <a:bodyPr wrap="square" rtlCol="0">
            <a:spAutoFit/>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delivers a hands-on, realistic platform for learning the intricacies of ATM software operations, integrating both client and server technologies.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Key software engineering principles—such as modular design, real-time feedback, and secure authentication—are demonstrated and reinforced in practical scenarios.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architecture is scalable and upgradeable, making it easy to add new transaction types or advanced features, such as OTP authentication or detailed reporting.</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use of open-source tools and standard programming languages facilitates broad accessibility and encourages adaptation for different learning objectives or research projects.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2923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BB554-ACED-D58D-B787-092B800C2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B5C95-34AC-8C9A-381E-E72D79D6037F}"/>
              </a:ext>
            </a:extLst>
          </p:cNvPr>
          <p:cNvSpPr>
            <a:spLocks noGrp="1"/>
          </p:cNvSpPr>
          <p:nvPr>
            <p:ph type="title"/>
          </p:nvPr>
        </p:nvSpPr>
        <p:spPr>
          <a:xfrm>
            <a:off x="457200" y="228600"/>
            <a:ext cx="8229600" cy="1143000"/>
          </a:xfrm>
        </p:spPr>
        <p:txBody>
          <a:bodyPr>
            <a:normAutofit/>
          </a:bodyPr>
          <a:lstStyle/>
          <a:p>
            <a:r>
              <a:rPr lang="en-US" sz="3600" b="1" dirty="0"/>
              <a:t>DISADVANTAGES</a:t>
            </a:r>
          </a:p>
        </p:txBody>
      </p:sp>
      <p:sp>
        <p:nvSpPr>
          <p:cNvPr id="5" name="Footer Placeholder 4">
            <a:extLst>
              <a:ext uri="{FF2B5EF4-FFF2-40B4-BE49-F238E27FC236}">
                <a16:creationId xmlns:a16="http://schemas.microsoft.com/office/drawing/2014/main" id="{9B41E604-7E4E-8AA1-F8CC-3D12A2F213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479BAEB-9D11-FC73-12DC-806C34FC0722}"/>
              </a:ext>
            </a:extLst>
          </p:cNvPr>
          <p:cNvSpPr>
            <a:spLocks noGrp="1"/>
          </p:cNvSpPr>
          <p:nvPr>
            <p:ph type="sldNum" sz="quarter" idx="12"/>
          </p:nvPr>
        </p:nvSpPr>
        <p:spPr/>
        <p:txBody>
          <a:bodyPr/>
          <a:lstStyle/>
          <a:p>
            <a:endParaRPr lang="en-US" dirty="0"/>
          </a:p>
        </p:txBody>
      </p:sp>
      <p:sp>
        <p:nvSpPr>
          <p:cNvPr id="4" name="Content Placeholder 3">
            <a:extLst>
              <a:ext uri="{FF2B5EF4-FFF2-40B4-BE49-F238E27FC236}">
                <a16:creationId xmlns:a16="http://schemas.microsoft.com/office/drawing/2014/main" id="{79A570CE-4079-5AAE-6AD2-9A61A6630605}"/>
              </a:ext>
            </a:extLst>
          </p:cNvPr>
          <p:cNvSpPr>
            <a:spLocks noGrp="1"/>
          </p:cNvSpPr>
          <p:nvPr>
            <p:ph idx="1"/>
          </p:nvPr>
        </p:nvSpPr>
        <p:spPr>
          <a:xfrm>
            <a:off x="430161" y="1295400"/>
            <a:ext cx="8229600" cy="4525963"/>
          </a:xfrm>
        </p:spPr>
        <p:txBody>
          <a:bodyPr>
            <a:noAutofit/>
          </a:bodyPr>
          <a:lstStyle/>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20000"/>
              </a:lnSpc>
              <a:buNone/>
            </a:pPr>
            <a:r>
              <a:rPr lang="en-US" sz="2000" dirty="0">
                <a:latin typeface="Times New Roman" panose="02020603050405020304" pitchFamily="18" charset="0"/>
                <a:cs typeface="Times New Roman" panose="02020603050405020304" pitchFamily="18" charset="0"/>
              </a:rPr>
              <a:t>The project does not interact with real banking networks or process actual       cash transactions, which means some essential security and compliance challenges found in commercial ATMs are only theoretically addressed.</a:t>
            </a: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20000"/>
              </a:lnSpc>
              <a:buNone/>
            </a:pPr>
            <a:r>
              <a:rPr lang="en-US" sz="2000" dirty="0">
                <a:latin typeface="Times New Roman" panose="02020603050405020304" pitchFamily="18" charset="0"/>
                <a:cs typeface="Times New Roman" panose="02020603050405020304" pitchFamily="18" charset="0"/>
              </a:rPr>
              <a:t>Security measures are limited to educational best practices and do not represent the highly advanced protocols used in real financial institutions.</a:t>
            </a: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20000"/>
              </a:lnSpc>
              <a:buNone/>
            </a:pPr>
            <a:r>
              <a:rPr lang="en-US" sz="2000" dirty="0">
                <a:latin typeface="Times New Roman" panose="02020603050405020304" pitchFamily="18" charset="0"/>
                <a:cs typeface="Times New Roman" panose="02020603050405020304" pitchFamily="18" charset="0"/>
              </a:rPr>
              <a:t>The scope is intentionally simplified; features like multi-account management, card validation, and multi-factor authentication are not included but are present in professional ATM systems.</a:t>
            </a:r>
          </a:p>
        </p:txBody>
      </p:sp>
      <p:sp>
        <p:nvSpPr>
          <p:cNvPr id="8" name="Date Placeholder 2">
            <a:extLst>
              <a:ext uri="{FF2B5EF4-FFF2-40B4-BE49-F238E27FC236}">
                <a16:creationId xmlns:a16="http://schemas.microsoft.com/office/drawing/2014/main" id="{92FDEB1D-639A-D483-1D74-138C1BCB6313}"/>
              </a:ext>
            </a:extLst>
          </p:cNvPr>
          <p:cNvSpPr>
            <a:spLocks noGrp="1"/>
          </p:cNvSpPr>
          <p:nvPr>
            <p:ph type="dt" sz="half" idx="10"/>
          </p:nvPr>
        </p:nvSpPr>
        <p:spPr>
          <a:xfrm>
            <a:off x="457200" y="6264275"/>
            <a:ext cx="2133600" cy="365125"/>
          </a:xfrm>
        </p:spPr>
        <p:txBody>
          <a:bodyPr/>
          <a:lstStyle/>
          <a:p>
            <a:endParaRPr lang="en-US" dirty="0"/>
          </a:p>
        </p:txBody>
      </p:sp>
    </p:spTree>
    <p:extLst>
      <p:ext uri="{BB962C8B-B14F-4D97-AF65-F5344CB8AC3E}">
        <p14:creationId xmlns:p14="http://schemas.microsoft.com/office/powerpoint/2010/main" val="991853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963F-7B72-86F2-B45E-A9B33D0BB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1AA0A-0AFD-DB20-47A9-6F5C3BA6A05B}"/>
              </a:ext>
            </a:extLst>
          </p:cNvPr>
          <p:cNvSpPr>
            <a:spLocks noGrp="1"/>
          </p:cNvSpPr>
          <p:nvPr>
            <p:ph type="title"/>
          </p:nvPr>
        </p:nvSpPr>
        <p:spPr>
          <a:xfrm>
            <a:off x="457200" y="228600"/>
            <a:ext cx="8229600" cy="1143000"/>
          </a:xfrm>
        </p:spPr>
        <p:txBody>
          <a:bodyPr>
            <a:normAutofit/>
          </a:bodyPr>
          <a:lstStyle/>
          <a:p>
            <a:r>
              <a:rPr lang="en-US" sz="3600" b="1" dirty="0"/>
              <a:t>MODULES</a:t>
            </a:r>
          </a:p>
        </p:txBody>
      </p:sp>
      <p:sp>
        <p:nvSpPr>
          <p:cNvPr id="5" name="Footer Placeholder 4">
            <a:extLst>
              <a:ext uri="{FF2B5EF4-FFF2-40B4-BE49-F238E27FC236}">
                <a16:creationId xmlns:a16="http://schemas.microsoft.com/office/drawing/2014/main" id="{11796D93-C95B-8F2F-5974-313B745BD2A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B5BE521-BB78-51C6-5DB4-E9EEABB1B97E}"/>
              </a:ext>
            </a:extLst>
          </p:cNvPr>
          <p:cNvSpPr>
            <a:spLocks noGrp="1"/>
          </p:cNvSpPr>
          <p:nvPr>
            <p:ph type="sldNum" sz="quarter" idx="12"/>
          </p:nvPr>
        </p:nvSpPr>
        <p:spPr/>
        <p:txBody>
          <a:bodyPr/>
          <a:lstStyle/>
          <a:p>
            <a:endParaRPr lang="en-US" dirty="0"/>
          </a:p>
        </p:txBody>
      </p:sp>
      <p:sp>
        <p:nvSpPr>
          <p:cNvPr id="4" name="Content Placeholder 3">
            <a:extLst>
              <a:ext uri="{FF2B5EF4-FFF2-40B4-BE49-F238E27FC236}">
                <a16:creationId xmlns:a16="http://schemas.microsoft.com/office/drawing/2014/main" id="{D9120BFA-00D0-6BCC-5B61-46FEDEE717EA}"/>
              </a:ext>
            </a:extLst>
          </p:cNvPr>
          <p:cNvSpPr>
            <a:spLocks noGrp="1"/>
          </p:cNvSpPr>
          <p:nvPr>
            <p:ph idx="1"/>
          </p:nvPr>
        </p:nvSpPr>
        <p:spPr>
          <a:xfrm>
            <a:off x="457200" y="1447800"/>
            <a:ext cx="8229600" cy="4525963"/>
          </a:xfrm>
        </p:spPr>
        <p:txBody>
          <a:bodyPr>
            <a:noAutofit/>
          </a:bodyPr>
          <a:lstStyle/>
          <a:p>
            <a:pPr marL="0" indent="0" algn="just">
              <a:lnSpc>
                <a:spcPct val="120000"/>
              </a:lnSpc>
              <a:buNone/>
            </a:pPr>
            <a:r>
              <a:rPr lang="en-US" sz="2000" dirty="0">
                <a:latin typeface="Times New Roman" panose="02020603050405020304" pitchFamily="18" charset="0"/>
                <a:cs typeface="Times New Roman" panose="02020603050405020304" pitchFamily="18" charset="0"/>
              </a:rPr>
              <a:t>The project is divided into clearly defined modules, each representing a major function of ATM operations:</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User login/authentication</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Dashboard with navigation menu</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Balance enquiry</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Deposit function</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Withdrawal function</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Transaction history record</a:t>
            </a:r>
          </a:p>
          <a:p>
            <a:pPr marL="0" indent="0" algn="just">
              <a:lnSpc>
                <a:spcPct val="120000"/>
              </a:lnSpc>
              <a:buNone/>
            </a:pPr>
            <a:r>
              <a:rPr lang="en-US" sz="2000" dirty="0">
                <a:latin typeface="Times New Roman" panose="02020603050405020304" pitchFamily="18" charset="0"/>
                <a:cs typeface="Times New Roman" panose="02020603050405020304" pitchFamily="18" charset="0"/>
              </a:rPr>
              <a:t>Each module performs input validation, error checking, and direct interfacing with backend logic and database storage for full-cycle transaction management</a:t>
            </a:r>
          </a:p>
        </p:txBody>
      </p:sp>
      <p:sp>
        <p:nvSpPr>
          <p:cNvPr id="8" name="Date Placeholder 2">
            <a:extLst>
              <a:ext uri="{FF2B5EF4-FFF2-40B4-BE49-F238E27FC236}">
                <a16:creationId xmlns:a16="http://schemas.microsoft.com/office/drawing/2014/main" id="{DA16903F-846E-703F-481E-4C3044D9FDDA}"/>
              </a:ext>
            </a:extLst>
          </p:cNvPr>
          <p:cNvSpPr>
            <a:spLocks noGrp="1"/>
          </p:cNvSpPr>
          <p:nvPr>
            <p:ph type="dt" sz="half" idx="10"/>
          </p:nvPr>
        </p:nvSpPr>
        <p:spPr>
          <a:xfrm>
            <a:off x="457200" y="6264275"/>
            <a:ext cx="2133600" cy="365125"/>
          </a:xfrm>
        </p:spPr>
        <p:txBody>
          <a:bodyPr/>
          <a:lstStyle/>
          <a:p>
            <a:endParaRPr lang="en-US" dirty="0"/>
          </a:p>
        </p:txBody>
      </p:sp>
    </p:spTree>
    <p:extLst>
      <p:ext uri="{BB962C8B-B14F-4D97-AF65-F5344CB8AC3E}">
        <p14:creationId xmlns:p14="http://schemas.microsoft.com/office/powerpoint/2010/main" val="1633515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9D93C-6194-7946-0B29-CF1E81317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4E929-8346-A6FE-1BB6-76B2A4A3F35C}"/>
              </a:ext>
            </a:extLst>
          </p:cNvPr>
          <p:cNvSpPr>
            <a:spLocks noGrp="1"/>
          </p:cNvSpPr>
          <p:nvPr>
            <p:ph type="title"/>
          </p:nvPr>
        </p:nvSpPr>
        <p:spPr>
          <a:xfrm>
            <a:off x="457200" y="228600"/>
            <a:ext cx="8229600" cy="1143000"/>
          </a:xfrm>
        </p:spPr>
        <p:txBody>
          <a:bodyPr>
            <a:normAutofit/>
          </a:bodyPr>
          <a:lstStyle/>
          <a:p>
            <a:r>
              <a:rPr lang="en-US" sz="3600" b="1" dirty="0"/>
              <a:t>MODULE DESCRIPTION</a:t>
            </a:r>
          </a:p>
        </p:txBody>
      </p:sp>
      <p:sp>
        <p:nvSpPr>
          <p:cNvPr id="5" name="Footer Placeholder 4">
            <a:extLst>
              <a:ext uri="{FF2B5EF4-FFF2-40B4-BE49-F238E27FC236}">
                <a16:creationId xmlns:a16="http://schemas.microsoft.com/office/drawing/2014/main" id="{88A196A4-0184-31BA-5986-F2D54E75184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C9EF3EB-6E2B-FD0F-7946-D713791E45DA}"/>
              </a:ext>
            </a:extLst>
          </p:cNvPr>
          <p:cNvSpPr>
            <a:spLocks noGrp="1"/>
          </p:cNvSpPr>
          <p:nvPr>
            <p:ph type="sldNum" sz="quarter" idx="12"/>
          </p:nvPr>
        </p:nvSpPr>
        <p:spPr/>
        <p:txBody>
          <a:bodyPr/>
          <a:lstStyle/>
          <a:p>
            <a:endParaRPr lang="en-US" dirty="0"/>
          </a:p>
        </p:txBody>
      </p:sp>
      <p:sp>
        <p:nvSpPr>
          <p:cNvPr id="4" name="Content Placeholder 3">
            <a:extLst>
              <a:ext uri="{FF2B5EF4-FFF2-40B4-BE49-F238E27FC236}">
                <a16:creationId xmlns:a16="http://schemas.microsoft.com/office/drawing/2014/main" id="{5742F0BC-0710-5B7D-9E45-433187276CDB}"/>
              </a:ext>
            </a:extLst>
          </p:cNvPr>
          <p:cNvSpPr>
            <a:spLocks noGrp="1"/>
          </p:cNvSpPr>
          <p:nvPr>
            <p:ph idx="1"/>
          </p:nvPr>
        </p:nvSpPr>
        <p:spPr>
          <a:xfrm>
            <a:off x="457200" y="1447800"/>
            <a:ext cx="8229600" cy="4525963"/>
          </a:xfrm>
        </p:spPr>
        <p:txBody>
          <a:bodyPr>
            <a:noAutofit/>
          </a:bodyPr>
          <a:lstStyle/>
          <a:p>
            <a:pPr marL="0" indent="0" algn="just">
              <a:lnSpc>
                <a:spcPct val="120000"/>
              </a:lnSpc>
              <a:buNone/>
            </a:pPr>
            <a:r>
              <a:rPr lang="en-US" sz="2000" b="1" dirty="0">
                <a:latin typeface="Times New Roman" panose="02020603050405020304" pitchFamily="18" charset="0"/>
                <a:cs typeface="Times New Roman" panose="02020603050405020304" pitchFamily="18" charset="0"/>
              </a:rPr>
              <a:t>Login Module</a:t>
            </a:r>
            <a:r>
              <a:rPr lang="en-US" sz="2000" dirty="0">
                <a:latin typeface="Times New Roman" panose="02020603050405020304" pitchFamily="18" charset="0"/>
                <a:cs typeface="Times New Roman" panose="02020603050405020304" pitchFamily="18" charset="0"/>
              </a:rPr>
              <a:t>: Authenticates users via username and password, restricts system access to authorized users, and implements retry logic for failed attempts.</a:t>
            </a:r>
          </a:p>
          <a:p>
            <a:pPr marL="0" indent="0" algn="just">
              <a:lnSpc>
                <a:spcPct val="120000"/>
              </a:lnSpc>
              <a:buNone/>
            </a:pPr>
            <a:endParaRPr lang="en-US" sz="2000" b="1" dirty="0">
              <a:latin typeface="Times New Roman" panose="02020603050405020304" pitchFamily="18" charset="0"/>
              <a:cs typeface="Times New Roman" panose="02020603050405020304" pitchFamily="18" charset="0"/>
            </a:endParaRPr>
          </a:p>
          <a:p>
            <a:pPr marL="0" indent="0" algn="just">
              <a:lnSpc>
                <a:spcPct val="120000"/>
              </a:lnSpc>
              <a:buNone/>
            </a:pPr>
            <a:r>
              <a:rPr lang="en-US" sz="2000" b="1" dirty="0">
                <a:latin typeface="Times New Roman" panose="02020603050405020304" pitchFamily="18" charset="0"/>
                <a:cs typeface="Times New Roman" panose="02020603050405020304" pitchFamily="18" charset="0"/>
              </a:rPr>
              <a:t>Deposit Module</a:t>
            </a:r>
            <a:r>
              <a:rPr lang="en-US" sz="2000" dirty="0">
                <a:latin typeface="Times New Roman" panose="02020603050405020304" pitchFamily="18" charset="0"/>
                <a:cs typeface="Times New Roman" panose="02020603050405020304" pitchFamily="18" charset="0"/>
              </a:rPr>
              <a:t>: Accepts numeric input, validates amounts, updates the account balance, and records the transaction with a timestamp in the database.</a:t>
            </a:r>
          </a:p>
          <a:p>
            <a:pPr marL="0" indent="0" algn="just">
              <a:lnSpc>
                <a:spcPct val="120000"/>
              </a:lnSpc>
              <a:buNone/>
            </a:pPr>
            <a:endParaRPr lang="en-US" sz="2000" b="1" dirty="0">
              <a:latin typeface="Times New Roman" panose="02020603050405020304" pitchFamily="18" charset="0"/>
              <a:cs typeface="Times New Roman" panose="02020603050405020304" pitchFamily="18" charset="0"/>
            </a:endParaRPr>
          </a:p>
          <a:p>
            <a:pPr marL="0" indent="0" algn="just">
              <a:lnSpc>
                <a:spcPct val="120000"/>
              </a:lnSpc>
              <a:buNone/>
            </a:pPr>
            <a:r>
              <a:rPr lang="en-US" sz="2000" b="1" dirty="0">
                <a:latin typeface="Times New Roman" panose="02020603050405020304" pitchFamily="18" charset="0"/>
                <a:cs typeface="Times New Roman" panose="02020603050405020304" pitchFamily="18" charset="0"/>
              </a:rPr>
              <a:t>Withdrawal Module</a:t>
            </a:r>
            <a:r>
              <a:rPr lang="en-US" sz="2000" dirty="0">
                <a:latin typeface="Times New Roman" panose="02020603050405020304" pitchFamily="18" charset="0"/>
                <a:cs typeface="Times New Roman" panose="02020603050405020304" pitchFamily="18" charset="0"/>
              </a:rPr>
              <a:t>: Verifies current balance, prevents overdrafts, and updates balance and transaction history after successful checks.</a:t>
            </a:r>
          </a:p>
          <a:p>
            <a:pPr marL="0" indent="0" algn="just">
              <a:lnSpc>
                <a:spcPct val="120000"/>
              </a:lnSpc>
              <a:buNone/>
            </a:pPr>
            <a:endParaRPr lang="en-US" sz="2000" b="1" dirty="0">
              <a:latin typeface="Times New Roman" panose="02020603050405020304" pitchFamily="18" charset="0"/>
              <a:cs typeface="Times New Roman" panose="02020603050405020304" pitchFamily="18" charset="0"/>
            </a:endParaRPr>
          </a:p>
          <a:p>
            <a:pPr marL="0" indent="0" algn="just">
              <a:lnSpc>
                <a:spcPct val="120000"/>
              </a:lnSpc>
              <a:buNone/>
            </a:pPr>
            <a:r>
              <a:rPr lang="en-US" sz="2000" b="1" dirty="0">
                <a:latin typeface="Times New Roman" panose="02020603050405020304" pitchFamily="18" charset="0"/>
                <a:cs typeface="Times New Roman" panose="02020603050405020304" pitchFamily="18" charset="0"/>
              </a:rPr>
              <a:t>Balance Inquiry</a:t>
            </a:r>
            <a:r>
              <a:rPr lang="en-US" sz="2000" dirty="0">
                <a:latin typeface="Times New Roman" panose="02020603050405020304" pitchFamily="18" charset="0"/>
                <a:cs typeface="Times New Roman" panose="02020603050405020304" pitchFamily="18" charset="0"/>
              </a:rPr>
              <a:t>: Instantly fetches and displays current user balance from the database.</a:t>
            </a:r>
          </a:p>
        </p:txBody>
      </p:sp>
      <p:sp>
        <p:nvSpPr>
          <p:cNvPr id="8" name="Date Placeholder 2">
            <a:extLst>
              <a:ext uri="{FF2B5EF4-FFF2-40B4-BE49-F238E27FC236}">
                <a16:creationId xmlns:a16="http://schemas.microsoft.com/office/drawing/2014/main" id="{EA501293-1ACD-144F-28EC-12B66035A4BA}"/>
              </a:ext>
            </a:extLst>
          </p:cNvPr>
          <p:cNvSpPr>
            <a:spLocks noGrp="1"/>
          </p:cNvSpPr>
          <p:nvPr>
            <p:ph type="dt" sz="half" idx="10"/>
          </p:nvPr>
        </p:nvSpPr>
        <p:spPr>
          <a:xfrm>
            <a:off x="457200" y="6264275"/>
            <a:ext cx="2133600" cy="365125"/>
          </a:xfrm>
        </p:spPr>
        <p:txBody>
          <a:bodyPr/>
          <a:lstStyle/>
          <a:p>
            <a:endParaRPr lang="en-US" dirty="0"/>
          </a:p>
        </p:txBody>
      </p:sp>
    </p:spTree>
    <p:extLst>
      <p:ext uri="{BB962C8B-B14F-4D97-AF65-F5344CB8AC3E}">
        <p14:creationId xmlns:p14="http://schemas.microsoft.com/office/powerpoint/2010/main" val="1119778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9C2BD-CEFF-4DDC-0FC4-B31CBAFB2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3A95A-A85F-92E9-F1F6-256724495A83}"/>
              </a:ext>
            </a:extLst>
          </p:cNvPr>
          <p:cNvSpPr>
            <a:spLocks noGrp="1"/>
          </p:cNvSpPr>
          <p:nvPr>
            <p:ph type="title"/>
          </p:nvPr>
        </p:nvSpPr>
        <p:spPr>
          <a:xfrm>
            <a:off x="457200" y="228600"/>
            <a:ext cx="8229600" cy="1143000"/>
          </a:xfrm>
        </p:spPr>
        <p:txBody>
          <a:bodyPr>
            <a:normAutofit/>
          </a:bodyPr>
          <a:lstStyle/>
          <a:p>
            <a:r>
              <a:rPr lang="en-US" sz="3600" b="1" dirty="0"/>
              <a:t>SAMPLE OUTPUT</a:t>
            </a:r>
          </a:p>
        </p:txBody>
      </p:sp>
      <p:sp>
        <p:nvSpPr>
          <p:cNvPr id="5" name="Footer Placeholder 4">
            <a:extLst>
              <a:ext uri="{FF2B5EF4-FFF2-40B4-BE49-F238E27FC236}">
                <a16:creationId xmlns:a16="http://schemas.microsoft.com/office/drawing/2014/main" id="{F7DAA23C-B77D-A256-857D-1DC2E462FA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FE8CE0-FDFA-A684-0449-3DB684BBDA0A}"/>
              </a:ext>
            </a:extLst>
          </p:cNvPr>
          <p:cNvSpPr>
            <a:spLocks noGrp="1"/>
          </p:cNvSpPr>
          <p:nvPr>
            <p:ph type="sldNum" sz="quarter" idx="12"/>
          </p:nvPr>
        </p:nvSpPr>
        <p:spPr/>
        <p:txBody>
          <a:bodyPr/>
          <a:lstStyle/>
          <a:p>
            <a:endParaRPr lang="en-US" dirty="0"/>
          </a:p>
        </p:txBody>
      </p:sp>
      <p:pic>
        <p:nvPicPr>
          <p:cNvPr id="7" name="Content Placeholder 6" descr="A screen shot of a login">
            <a:extLst>
              <a:ext uri="{FF2B5EF4-FFF2-40B4-BE49-F238E27FC236}">
                <a16:creationId xmlns:a16="http://schemas.microsoft.com/office/drawing/2014/main" id="{0E7A353C-9E13-5A8E-575E-64FAC78C30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4787" y="1646237"/>
            <a:ext cx="5354425" cy="4525963"/>
          </a:xfrm>
        </p:spPr>
      </p:pic>
      <p:sp>
        <p:nvSpPr>
          <p:cNvPr id="8" name="Date Placeholder 2">
            <a:extLst>
              <a:ext uri="{FF2B5EF4-FFF2-40B4-BE49-F238E27FC236}">
                <a16:creationId xmlns:a16="http://schemas.microsoft.com/office/drawing/2014/main" id="{BF2EDBC9-73F2-D1CC-F5A3-8DB0C24EDBE1}"/>
              </a:ext>
            </a:extLst>
          </p:cNvPr>
          <p:cNvSpPr>
            <a:spLocks noGrp="1"/>
          </p:cNvSpPr>
          <p:nvPr>
            <p:ph type="dt" sz="half" idx="10"/>
          </p:nvPr>
        </p:nvSpPr>
        <p:spPr>
          <a:xfrm>
            <a:off x="457200" y="6264275"/>
            <a:ext cx="2133600" cy="365125"/>
          </a:xfrm>
        </p:spPr>
        <p:txBody>
          <a:bodyPr/>
          <a:lstStyle/>
          <a:p>
            <a:endParaRPr lang="en-US" dirty="0"/>
          </a:p>
        </p:txBody>
      </p:sp>
    </p:spTree>
    <p:extLst>
      <p:ext uri="{BB962C8B-B14F-4D97-AF65-F5344CB8AC3E}">
        <p14:creationId xmlns:p14="http://schemas.microsoft.com/office/powerpoint/2010/main" val="1675232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2B88A499-7C60-9424-D101-3598BD3EF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C212B-107D-B4DC-8DBE-B27651854943}"/>
              </a:ext>
            </a:extLst>
          </p:cNvPr>
          <p:cNvSpPr>
            <a:spLocks noGrp="1"/>
          </p:cNvSpPr>
          <p:nvPr>
            <p:ph type="title"/>
          </p:nvPr>
        </p:nvSpPr>
        <p:spPr>
          <a:xfrm>
            <a:off x="457200" y="228600"/>
            <a:ext cx="8229600" cy="1143000"/>
          </a:xfrm>
        </p:spPr>
        <p:txBody>
          <a:bodyPr>
            <a:normAutofit/>
          </a:bodyPr>
          <a:lstStyle/>
          <a:p>
            <a:r>
              <a:rPr lang="en-US" sz="3600" b="1" dirty="0"/>
              <a:t>ATM OPERATIONS</a:t>
            </a:r>
          </a:p>
        </p:txBody>
      </p:sp>
      <p:sp>
        <p:nvSpPr>
          <p:cNvPr id="4" name="Content Placeholder 3">
            <a:extLst>
              <a:ext uri="{FF2B5EF4-FFF2-40B4-BE49-F238E27FC236}">
                <a16:creationId xmlns:a16="http://schemas.microsoft.com/office/drawing/2014/main" id="{D04DDF97-3469-F2A9-F996-83F11C584062}"/>
              </a:ext>
            </a:extLst>
          </p:cNvPr>
          <p:cNvSpPr>
            <a:spLocks noGrp="1"/>
          </p:cNvSpPr>
          <p:nvPr>
            <p:ph idx="1"/>
          </p:nvPr>
        </p:nvSpPr>
        <p:spPr>
          <a:xfrm>
            <a:off x="457200" y="1447800"/>
            <a:ext cx="8229600" cy="4525963"/>
          </a:xfrm>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8" name="Date Placeholder 2">
            <a:extLst>
              <a:ext uri="{FF2B5EF4-FFF2-40B4-BE49-F238E27FC236}">
                <a16:creationId xmlns:a16="http://schemas.microsoft.com/office/drawing/2014/main" id="{06EB90BE-4DF1-2F5D-1DD4-E6F0F0371922}"/>
              </a:ext>
            </a:extLst>
          </p:cNvPr>
          <p:cNvSpPr>
            <a:spLocks noGrp="1"/>
          </p:cNvSpPr>
          <p:nvPr>
            <p:ph type="dt" sz="half" idx="10"/>
          </p:nvPr>
        </p:nvSpPr>
        <p:spPr>
          <a:xfrm>
            <a:off x="457200" y="6264275"/>
            <a:ext cx="2133600" cy="365125"/>
          </a:xfrm>
        </p:spPr>
        <p:txBody>
          <a:bodyPr/>
          <a:lstStyle/>
          <a:p>
            <a:endParaRPr lang="en-US" dirty="0"/>
          </a:p>
        </p:txBody>
      </p:sp>
      <p:sp>
        <p:nvSpPr>
          <p:cNvPr id="5" name="Footer Placeholder 4">
            <a:extLst>
              <a:ext uri="{FF2B5EF4-FFF2-40B4-BE49-F238E27FC236}">
                <a16:creationId xmlns:a16="http://schemas.microsoft.com/office/drawing/2014/main" id="{950DA99A-B5CA-402D-A52E-DB5CED29BB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E2F541-7C09-52B9-FBED-5D6E34379E06}"/>
              </a:ext>
            </a:extLst>
          </p:cNvPr>
          <p:cNvSpPr>
            <a:spLocks noGrp="1"/>
          </p:cNvSpPr>
          <p:nvPr>
            <p:ph type="sldNum" sz="quarter" idx="12"/>
          </p:nvPr>
        </p:nvSpPr>
        <p:spPr/>
        <p:txBody>
          <a:bodyPr/>
          <a:lstStyle/>
          <a:p>
            <a:endParaRPr lang="en-US" dirty="0"/>
          </a:p>
        </p:txBody>
      </p:sp>
      <p:pic>
        <p:nvPicPr>
          <p:cNvPr id="9" name="Picture 8" descr="A screen shot of a black square with green text">
            <a:extLst>
              <a:ext uri="{FF2B5EF4-FFF2-40B4-BE49-F238E27FC236}">
                <a16:creationId xmlns:a16="http://schemas.microsoft.com/office/drawing/2014/main" id="{A257A849-51DE-2072-9A17-A0EFC598C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0" y="1427620"/>
            <a:ext cx="6757554" cy="4973180"/>
          </a:xfrm>
          <a:prstGeom prst="rect">
            <a:avLst/>
          </a:prstGeom>
        </p:spPr>
      </p:pic>
    </p:spTree>
    <p:extLst>
      <p:ext uri="{BB962C8B-B14F-4D97-AF65-F5344CB8AC3E}">
        <p14:creationId xmlns:p14="http://schemas.microsoft.com/office/powerpoint/2010/main" val="177134654"/>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6131C-FF4C-D096-C4D6-75036B7BDB95}"/>
              </a:ext>
            </a:extLst>
          </p:cNvPr>
          <p:cNvSpPr>
            <a:spLocks noGrp="1"/>
          </p:cNvSpPr>
          <p:nvPr>
            <p:ph type="title"/>
          </p:nvPr>
        </p:nvSpPr>
        <p:spPr/>
        <p:txBody>
          <a:bodyPr>
            <a:normAutofit/>
          </a:bodyPr>
          <a:lstStyle/>
          <a:p>
            <a:r>
              <a:rPr lang="en-US" sz="3600" b="1" dirty="0"/>
              <a:t>TRANSACTION HISTORY</a:t>
            </a:r>
          </a:p>
        </p:txBody>
      </p:sp>
      <p:pic>
        <p:nvPicPr>
          <p:cNvPr id="8" name="Content Placeholder 7">
            <a:extLst>
              <a:ext uri="{FF2B5EF4-FFF2-40B4-BE49-F238E27FC236}">
                <a16:creationId xmlns:a16="http://schemas.microsoft.com/office/drawing/2014/main" id="{552E1CFA-C5DC-5380-A5AA-407FDFEF7DF1}"/>
              </a:ext>
            </a:extLst>
          </p:cNvPr>
          <p:cNvPicPr>
            <a:picLocks noGrp="1" noChangeAspect="1"/>
          </p:cNvPicPr>
          <p:nvPr>
            <p:ph idx="1"/>
          </p:nvPr>
        </p:nvPicPr>
        <p:blipFill>
          <a:blip r:embed="rId2"/>
          <a:stretch>
            <a:fillRect/>
          </a:stretch>
        </p:blipFill>
        <p:spPr>
          <a:xfrm>
            <a:off x="2462868" y="1600200"/>
            <a:ext cx="4218264" cy="4525963"/>
          </a:xfrm>
          <a:prstGeom prst="rect">
            <a:avLst/>
          </a:prstGeom>
        </p:spPr>
      </p:pic>
      <p:sp>
        <p:nvSpPr>
          <p:cNvPr id="4" name="Date Placeholder 3">
            <a:extLst>
              <a:ext uri="{FF2B5EF4-FFF2-40B4-BE49-F238E27FC236}">
                <a16:creationId xmlns:a16="http://schemas.microsoft.com/office/drawing/2014/main" id="{D74B08A4-12FD-2D4B-A1CF-469C42C6121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33E7B3BF-3B25-E5DA-D151-590139A6C7E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AD129DD-A46B-3E76-877D-938866E2643D}"/>
              </a:ext>
            </a:extLst>
          </p:cNvPr>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1721453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94CA-5F13-8CE0-20B0-DA8D80372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AB8B9-75E1-B891-6077-940F7400A47D}"/>
              </a:ext>
            </a:extLst>
          </p:cNvPr>
          <p:cNvSpPr>
            <a:spLocks noGrp="1"/>
          </p:cNvSpPr>
          <p:nvPr>
            <p:ph type="title"/>
          </p:nvPr>
        </p:nvSpPr>
        <p:spPr>
          <a:xfrm>
            <a:off x="457200" y="228600"/>
            <a:ext cx="8229600" cy="1143000"/>
          </a:xfrm>
        </p:spPr>
        <p:txBody>
          <a:bodyPr>
            <a:normAutofit/>
          </a:bodyPr>
          <a:lstStyle/>
          <a:p>
            <a:r>
              <a:rPr lang="en-US" sz="3600" b="1" dirty="0"/>
              <a:t>CONCLUSION</a:t>
            </a:r>
          </a:p>
        </p:txBody>
      </p:sp>
      <p:sp>
        <p:nvSpPr>
          <p:cNvPr id="5" name="Footer Placeholder 4">
            <a:extLst>
              <a:ext uri="{FF2B5EF4-FFF2-40B4-BE49-F238E27FC236}">
                <a16:creationId xmlns:a16="http://schemas.microsoft.com/office/drawing/2014/main" id="{5FDE52A4-7E88-413A-E0C9-13E0CE693CC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AECEB5-E2C5-5672-ED39-72D2BC408F99}"/>
              </a:ext>
            </a:extLst>
          </p:cNvPr>
          <p:cNvSpPr>
            <a:spLocks noGrp="1"/>
          </p:cNvSpPr>
          <p:nvPr>
            <p:ph type="sldNum" sz="quarter" idx="12"/>
          </p:nvPr>
        </p:nvSpPr>
        <p:spPr/>
        <p:txBody>
          <a:bodyPr/>
          <a:lstStyle/>
          <a:p>
            <a:endParaRPr lang="en-US" dirty="0"/>
          </a:p>
        </p:txBody>
      </p:sp>
      <p:sp>
        <p:nvSpPr>
          <p:cNvPr id="4" name="Content Placeholder 3">
            <a:extLst>
              <a:ext uri="{FF2B5EF4-FFF2-40B4-BE49-F238E27FC236}">
                <a16:creationId xmlns:a16="http://schemas.microsoft.com/office/drawing/2014/main" id="{6FA77C26-D5ED-135E-DBC5-C07B9BAADD11}"/>
              </a:ext>
            </a:extLst>
          </p:cNvPr>
          <p:cNvSpPr>
            <a:spLocks noGrp="1"/>
          </p:cNvSpPr>
          <p:nvPr>
            <p:ph idx="1"/>
          </p:nvPr>
        </p:nvSpPr>
        <p:spPr>
          <a:xfrm>
            <a:off x="457200" y="1447800"/>
            <a:ext cx="8229600" cy="4525963"/>
          </a:xfrm>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Simple ATM Interface stands as a practical educational and development platform, simulating authentic banking operations through a well-organized, multi-tier architecture. Its design encourages understanding of how web applications, backend logic, and relational databases interact in secure financial workflows. Learners gain experience with modular software engineering, multi-layered validation, and the fundamentals of robust, scalable system development. Ultimately, the project bridges classroom theory and real-world software practice, offering an invaluable springboard for further study in advanced topics such as security, networking, and enterprise financial system</a:t>
            </a:r>
          </a:p>
        </p:txBody>
      </p:sp>
      <p:sp>
        <p:nvSpPr>
          <p:cNvPr id="8" name="Date Placeholder 2">
            <a:extLst>
              <a:ext uri="{FF2B5EF4-FFF2-40B4-BE49-F238E27FC236}">
                <a16:creationId xmlns:a16="http://schemas.microsoft.com/office/drawing/2014/main" id="{41FC222B-1346-83C2-B774-B50A9D6C71D1}"/>
              </a:ext>
            </a:extLst>
          </p:cNvPr>
          <p:cNvSpPr>
            <a:spLocks noGrp="1"/>
          </p:cNvSpPr>
          <p:nvPr>
            <p:ph type="dt" sz="half" idx="10"/>
          </p:nvPr>
        </p:nvSpPr>
        <p:spPr>
          <a:xfrm>
            <a:off x="457200" y="6264275"/>
            <a:ext cx="2133600" cy="365125"/>
          </a:xfrm>
        </p:spPr>
        <p:txBody>
          <a:bodyPr/>
          <a:lstStyle/>
          <a:p>
            <a:endParaRPr lang="en-US" dirty="0"/>
          </a:p>
        </p:txBody>
      </p:sp>
    </p:spTree>
    <p:extLst>
      <p:ext uri="{BB962C8B-B14F-4D97-AF65-F5344CB8AC3E}">
        <p14:creationId xmlns:p14="http://schemas.microsoft.com/office/powerpoint/2010/main" val="4263629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3BC01-97CF-177F-07DA-26854E4CE0A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F92AF3BD-05C7-243D-62DF-1F73103C2A4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B5B0506-C2DF-8775-F5F9-6345370B429B}"/>
              </a:ext>
            </a:extLst>
          </p:cNvPr>
          <p:cNvSpPr>
            <a:spLocks noGrp="1"/>
          </p:cNvSpPr>
          <p:nvPr>
            <p:ph type="sldNum" sz="quarter" idx="12"/>
          </p:nvPr>
        </p:nvSpPr>
        <p:spPr>
          <a:xfrm>
            <a:off x="6553200" y="6356350"/>
            <a:ext cx="2362200" cy="365125"/>
          </a:xfrm>
        </p:spPr>
        <p:txBody>
          <a:bodyPr/>
          <a:lstStyle/>
          <a:p>
            <a:endParaRPr lang="en-US" dirty="0"/>
          </a:p>
        </p:txBody>
      </p:sp>
      <p:sp>
        <p:nvSpPr>
          <p:cNvPr id="8" name="Date Placeholder 2">
            <a:extLst>
              <a:ext uri="{FF2B5EF4-FFF2-40B4-BE49-F238E27FC236}">
                <a16:creationId xmlns:a16="http://schemas.microsoft.com/office/drawing/2014/main" id="{D4123E99-BEE5-4989-AC9F-6E5F278A359C}"/>
              </a:ext>
            </a:extLst>
          </p:cNvPr>
          <p:cNvSpPr>
            <a:spLocks noGrp="1"/>
          </p:cNvSpPr>
          <p:nvPr>
            <p:ph type="dt" sz="half" idx="10"/>
          </p:nvPr>
        </p:nvSpPr>
        <p:spPr>
          <a:xfrm>
            <a:off x="457200" y="6264275"/>
            <a:ext cx="2133600" cy="365125"/>
          </a:xfrm>
        </p:spPr>
        <p:txBody>
          <a:bodyPr/>
          <a:lstStyle/>
          <a:p>
            <a:endParaRPr lang="en-US" dirty="0"/>
          </a:p>
        </p:txBody>
      </p:sp>
      <p:sp>
        <p:nvSpPr>
          <p:cNvPr id="4" name="Title 3">
            <a:extLst>
              <a:ext uri="{FF2B5EF4-FFF2-40B4-BE49-F238E27FC236}">
                <a16:creationId xmlns:a16="http://schemas.microsoft.com/office/drawing/2014/main" id="{DEA66CE6-C4CD-BBCA-683D-60CA90ED2A0E}"/>
              </a:ext>
            </a:extLst>
          </p:cNvPr>
          <p:cNvSpPr>
            <a:spLocks noGrp="1"/>
          </p:cNvSpPr>
          <p:nvPr>
            <p:ph type="title"/>
          </p:nvPr>
        </p:nvSpPr>
        <p:spPr>
          <a:xfrm>
            <a:off x="304800" y="1600200"/>
            <a:ext cx="8534400" cy="3810000"/>
          </a:xfrm>
        </p:spPr>
        <p:txBody>
          <a:bodyPr/>
          <a:lstStyle/>
          <a:p>
            <a:r>
              <a:rPr lang="en-US" dirty="0"/>
              <a:t>THANK YOU</a:t>
            </a:r>
          </a:p>
        </p:txBody>
      </p:sp>
    </p:spTree>
    <p:extLst>
      <p:ext uri="{BB962C8B-B14F-4D97-AF65-F5344CB8AC3E}">
        <p14:creationId xmlns:p14="http://schemas.microsoft.com/office/powerpoint/2010/main" val="238906338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256</TotalTime>
  <Words>859</Words>
  <Application>Microsoft Office PowerPoint</Application>
  <PresentationFormat>On-screen Show (4:3)</PresentationFormat>
  <Paragraphs>59</Paragraphs>
  <Slides>13</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Custom Design</vt:lpstr>
      <vt:lpstr>  </vt:lpstr>
      <vt:lpstr>ABSTRACT</vt:lpstr>
      <vt:lpstr>EXISTING SYSTEM</vt:lpstr>
      <vt:lpstr>PROPOSED SYSTEM</vt:lpstr>
      <vt:lpstr>ADVANTAGES</vt:lpstr>
      <vt:lpstr>DISADVANTAGES</vt:lpstr>
      <vt:lpstr>MODULES</vt:lpstr>
      <vt:lpstr>MODULE DESCRIPTION</vt:lpstr>
      <vt:lpstr>SAMPLE OUTPUT</vt:lpstr>
      <vt:lpstr>ATM OPERATIONS</vt:lpstr>
      <vt:lpstr>TRANSACTION HISTORY</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R Kishore</cp:lastModifiedBy>
  <cp:revision>116</cp:revision>
  <dcterms:created xsi:type="dcterms:W3CDTF">2019-11-06T07:48:00Z</dcterms:created>
  <dcterms:modified xsi:type="dcterms:W3CDTF">2025-10-29T05:22:05Z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26C965DCC8F94B56AF33BB737A8A4E09_13</vt:lpwstr>
  </property>
  <property fmtid="{D5CDD505-2E9C-101B-9397-08002B2CF9AE}" pid="3" name="KSOProductBuildVer">
    <vt:lpwstr>1033-12.2.0.22549</vt:lpwstr>
  </property>
</Properties>
</file>